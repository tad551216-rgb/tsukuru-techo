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3716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2860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1148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0292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9436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91556" y="960120"/>
            <a:ext cx="1005840" cy="1005840"/>
          </a:xfrm>
          <a:prstGeom prst="ellipse">
            <a:avLst/>
          </a:prstGeom>
          <a:solidFill>
            <a:srgbClr val="C9472E"/>
          </a:solidFill>
          <a:ln/>
        </p:spPr>
      </p:sp>
      <p:pic>
        <p:nvPicPr>
          <p:cNvPr id="44" name="Image 0" descr="icons/bu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0" y="1197864"/>
            <a:ext cx="530352" cy="530352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914400" y="22402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DF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放課後デイ応援帖</a:t>
            </a:r>
            <a:endParaRPr lang="en-US" sz="4400" dirty="0"/>
          </a:p>
        </p:txBody>
      </p:sp>
      <p:sp>
        <p:nvSpPr>
          <p:cNvPr id="46" name="Text 43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DF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送迎・記録アプリのご案内</a:t>
            </a:r>
            <a:endParaRPr lang="en-US" sz="2400" dirty="0"/>
          </a:p>
        </p:txBody>
      </p:sp>
      <p:sp>
        <p:nvSpPr>
          <p:cNvPr id="47" name="Text 44"/>
          <p:cNvSpPr/>
          <p:nvPr/>
        </p:nvSpPr>
        <p:spPr>
          <a:xfrm>
            <a:off x="914400" y="39776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目的とアプリの構成 ／ アプリどうしの連携 ／ 段階的な始め方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4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つくる手帖 ｜ じぶんの道具は、じぶんでつくる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なにを解決するアプリか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現場の「送迎」と「記録」の事務負担を、iPhoneだけで軽くする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つくる手帖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7F4EA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9280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077"/>
            </a:solidFill>
            <a:prstDash val="solid"/>
          </a:ln>
        </p:spPr>
      </p:sp>
      <p:pic>
        <p:nvPicPr>
          <p:cNvPr id="7" name="Image 0" descr="icons/yen-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4825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8562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費用はかかりません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00200" y="2350008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サーバーも契約も不要。ブラウザで開いてホーム画面に追加するだけで、アプリのように使えます。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73952" y="160020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7F4EA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48272" y="189280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077"/>
            </a:solidFill>
            <a:prstDash val="solid"/>
          </a:ln>
        </p:spPr>
      </p:sp>
      <p:pic>
        <p:nvPicPr>
          <p:cNvPr id="12" name="Image 1" descr="icons/shield-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04825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25512" y="18562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データは端末の中だけ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525512" y="2350008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児童の情報が外部に送信されることはありません。児童はニックネームで扱い、実名は使いません。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7F4EA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31596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077"/>
            </a:solidFill>
            <a:prstDash val="solid"/>
          </a:ln>
        </p:spPr>
      </p:sp>
      <p:pic>
        <p:nvPicPr>
          <p:cNvPr id="17" name="Image 2" descr="icons/mobile-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47141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27939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iPhoneひとつで完結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600200" y="4773168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送迎担当のiPhoneやiPadだけで、配車・地図・サインまで。パソコンも専用機器も要りません。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73952" y="402336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7F4EA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48272" y="431596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077"/>
            </a:solidFill>
            <a:prstDash val="solid"/>
          </a:ln>
        </p:spPr>
      </p:sp>
      <p:pic>
        <p:nvPicPr>
          <p:cNvPr id="22" name="Image 3" descr="icons/qr-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447141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25512" y="427939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導入はQRコードから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525512" y="4773168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配布用のQRカード・インストール手順書があります。読み取って開けば、その日から試せます。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アプリの全体構成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役割ごとに分かれた4つのアプリ。単体でも、組み合わせても使えます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つくる手帖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01952"/>
            <a:ext cx="658368" cy="658368"/>
          </a:xfrm>
          <a:prstGeom prst="ellipse">
            <a:avLst/>
          </a:prstGeom>
          <a:solidFill>
            <a:srgbClr val="C9472E"/>
          </a:solidFill>
          <a:ln/>
        </p:spPr>
      </p:sp>
      <p:pic>
        <p:nvPicPr>
          <p:cNvPr id="7" name="Image 0" descr="icons/bu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2073128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3794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おむかえルート帖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45920" y="22585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7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当日の学校お迎え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45920" y="26060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学校を選んで人数と時刻を確定すると自動で配車。到着見込み・Googleマップ連携・お送りサインつき。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73952" y="160020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48272" y="1901952"/>
            <a:ext cx="658368" cy="658368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13" name="Image 1" descr="icons/cal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448" y="2073128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71232" y="183794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おむかえルート帖・月間版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571232" y="22585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7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1ヶ月先までの送迎計画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571232" y="26060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カレンダーで先の予定を管理。お迎え（学校）とお送り（自宅）を別々に配車し、確定・変更も追跡。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02336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4325112"/>
            <a:ext cx="658368" cy="658368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19" name="Image 2" descr="icons/clip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36" y="4496288"/>
            <a:ext cx="316017" cy="31601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426110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支援きろく帖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645920" y="46817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7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日々の支援記録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645920" y="50292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5領域（令和6年度基準）に沿った支援記録づくり。個別支援計画の運用を支えます。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73952" y="402336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2C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48272" y="4325112"/>
            <a:ext cx="658368" cy="658368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25" name="Image 3" descr="icons/comment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448" y="4496288"/>
            <a:ext cx="316017" cy="31601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71232" y="426110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おうち連絡帖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571232" y="46817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7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保護者との連絡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571232" y="50292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ご家庭との連絡・お知らせのやりとりを、紙の連絡帳の感覚で。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おむかえルート帖（当日版）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「きょうのお迎え」を、選んで・確定して・配車するだけ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つくる手帖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66928" cy="566928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6" name="Image 0" descr="icons/school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7933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276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学校を選ぶ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474720" y="156362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全国データベースから市区町村を選ぶだけで学校リストが完成。下校時刻・人数を入れて確定。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32104" y="2212848"/>
            <a:ext cx="0" cy="603504"/>
          </a:xfrm>
          <a:prstGeom prst="line">
            <a:avLst/>
          </a:prstGeom>
          <a:noFill/>
          <a:ln w="19050">
            <a:solidFill>
              <a:srgbClr val="D8D2C0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48640" y="2816352"/>
            <a:ext cx="566928" cy="566928"/>
          </a:xfrm>
          <a:prstGeom prst="ellipse">
            <a:avLst/>
          </a:prstGeom>
          <a:solidFill>
            <a:srgbClr val="C9472E"/>
          </a:solidFill>
          <a:ln/>
        </p:spPr>
      </p:sp>
      <p:pic>
        <p:nvPicPr>
          <p:cNvPr id="11" name="Image 1" descr="icons/rout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96375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7980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自動で配車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74720" y="273405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同じ時刻のお迎えを車両に振り分け。到着見込みと遅れの目安も表示します。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" y="3383280"/>
            <a:ext cx="0" cy="603504"/>
          </a:xfrm>
          <a:prstGeom prst="line">
            <a:avLst/>
          </a:prstGeom>
          <a:noFill/>
          <a:ln w="19050">
            <a:solidFill>
              <a:srgbClr val="D8D2C0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548640" y="3986784"/>
            <a:ext cx="566928" cy="566928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16" name="Image 2" descr="icons/map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4134185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9684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そのまま運転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474720" y="39044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ボタンひとつでGoogleマップにルートを引き継ぎ。順番の入れ替えや車の変更も指先で。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32104" y="4553712"/>
            <a:ext cx="0" cy="603504"/>
          </a:xfrm>
          <a:prstGeom prst="line">
            <a:avLst/>
          </a:prstGeom>
          <a:noFill/>
          <a:ln w="19050">
            <a:solidFill>
              <a:srgbClr val="D8D2C0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21" name="Image 3" descr="icons/pen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5304617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51389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お送りサイン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3474720" y="50749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お送り時に保護者サインを画面で受領。集約ファイルで管理者へまとめて渡せます。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503920" y="1645920"/>
            <a:ext cx="3108960" cy="4480560"/>
          </a:xfrm>
          <a:prstGeom prst="roundRect">
            <a:avLst>
              <a:gd name="adj" fmla="val 2647"/>
            </a:avLst>
          </a:prstGeom>
          <a:solidFill>
            <a:srgbClr val="1E3A58"/>
          </a:solidFill>
          <a:ln/>
        </p:spPr>
      </p:sp>
      <p:sp>
        <p:nvSpPr>
          <p:cNvPr id="25" name="Text 19"/>
          <p:cNvSpPr/>
          <p:nvPr/>
        </p:nvSpPr>
        <p:spPr>
          <a:xfrm>
            <a:off x="873252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現場で育ったアプリ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732520" y="2377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83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v50</a:t>
            </a:r>
            <a:endParaRPr lang="en-US" sz="5400" dirty="0"/>
          </a:p>
        </p:txBody>
      </p:sp>
      <p:sp>
        <p:nvSpPr>
          <p:cNvPr id="27" name="Text 21"/>
          <p:cNvSpPr/>
          <p:nvPr/>
        </p:nvSpPr>
        <p:spPr>
          <a:xfrm>
            <a:off x="8732520" y="33832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ADC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実機のiPhoneで検証を重ねた改良回数。日本語入力・片手操作・車内での見やすさまで作り込んでいます。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732520" y="49377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B4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 約3万校の学校データベース収録（文部科学省「学校コード」）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おむかえルート帖・月間版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「きょう」から「1ヶ月先」へ。迎えと送りを別々に計画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つくる手帖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754880" cy="4526280"/>
          </a:xfrm>
          <a:prstGeom prst="roundRect">
            <a:avLst>
              <a:gd name="adj" fmla="val 1818"/>
            </a:avLst>
          </a:prstGeom>
          <a:solidFill>
            <a:srgbClr val="F7F4EA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47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6270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47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8537" y="2240280"/>
            <a:ext cx="6270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85554" y="2240280"/>
            <a:ext cx="6270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火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12571" y="2240280"/>
            <a:ext cx="6270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39589" y="2240280"/>
            <a:ext cx="6270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66606" y="2240280"/>
            <a:ext cx="6270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93623" y="2240280"/>
            <a:ext cx="6270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40003" y="2532888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0003" y="2551176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85723" y="2807208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5723" y="2944368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18" name="Shape 16"/>
          <p:cNvSpPr/>
          <p:nvPr/>
        </p:nvSpPr>
        <p:spPr>
          <a:xfrm>
            <a:off x="3267021" y="2532888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7021" y="2551176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12741" y="2807208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21" name="Shape 19"/>
          <p:cNvSpPr/>
          <p:nvPr/>
        </p:nvSpPr>
        <p:spPr>
          <a:xfrm>
            <a:off x="3312741" y="2944368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22" name="Shape 20"/>
          <p:cNvSpPr/>
          <p:nvPr/>
        </p:nvSpPr>
        <p:spPr>
          <a:xfrm>
            <a:off x="3894038" y="2532888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94038" y="2551176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39758" y="2807208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25" name="Shape 23"/>
          <p:cNvSpPr/>
          <p:nvPr/>
        </p:nvSpPr>
        <p:spPr>
          <a:xfrm>
            <a:off x="3939758" y="2944368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26" name="Shape 24"/>
          <p:cNvSpPr/>
          <p:nvPr/>
        </p:nvSpPr>
        <p:spPr>
          <a:xfrm>
            <a:off x="4521055" y="2532888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1055" y="2551176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8952" y="3154680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3172968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47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85969" y="3154680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85969" y="3172968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431689" y="3429000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33" name="Shape 31"/>
          <p:cNvSpPr/>
          <p:nvPr/>
        </p:nvSpPr>
        <p:spPr>
          <a:xfrm>
            <a:off x="1431689" y="3566160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34" name="Shape 32"/>
          <p:cNvSpPr/>
          <p:nvPr/>
        </p:nvSpPr>
        <p:spPr>
          <a:xfrm>
            <a:off x="2012986" y="3154680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2986" y="3172968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58706" y="3429000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37" name="Shape 35"/>
          <p:cNvSpPr/>
          <p:nvPr/>
        </p:nvSpPr>
        <p:spPr>
          <a:xfrm>
            <a:off x="2058706" y="3566160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38" name="Shape 36"/>
          <p:cNvSpPr/>
          <p:nvPr/>
        </p:nvSpPr>
        <p:spPr>
          <a:xfrm>
            <a:off x="2640003" y="3154680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40003" y="3172968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685723" y="3429000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41" name="Shape 39"/>
          <p:cNvSpPr/>
          <p:nvPr/>
        </p:nvSpPr>
        <p:spPr>
          <a:xfrm>
            <a:off x="2685723" y="3566160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42" name="Shape 40"/>
          <p:cNvSpPr/>
          <p:nvPr/>
        </p:nvSpPr>
        <p:spPr>
          <a:xfrm>
            <a:off x="3267021" y="3154680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67021" y="3172968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312741" y="3429000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45" name="Shape 43"/>
          <p:cNvSpPr/>
          <p:nvPr/>
        </p:nvSpPr>
        <p:spPr>
          <a:xfrm>
            <a:off x="3312741" y="3566160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46" name="Shape 44"/>
          <p:cNvSpPr/>
          <p:nvPr/>
        </p:nvSpPr>
        <p:spPr>
          <a:xfrm>
            <a:off x="3894038" y="3154680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94038" y="3172968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39758" y="3429000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49" name="Shape 47"/>
          <p:cNvSpPr/>
          <p:nvPr/>
        </p:nvSpPr>
        <p:spPr>
          <a:xfrm>
            <a:off x="3939758" y="3566160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50" name="Shape 48"/>
          <p:cNvSpPr/>
          <p:nvPr/>
        </p:nvSpPr>
        <p:spPr>
          <a:xfrm>
            <a:off x="4521055" y="3154680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21055" y="3172968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58952" y="3776472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8952" y="3794760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47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385969" y="3776472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85969" y="3794760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431689" y="4050792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57" name="Shape 55"/>
          <p:cNvSpPr/>
          <p:nvPr/>
        </p:nvSpPr>
        <p:spPr>
          <a:xfrm>
            <a:off x="1431689" y="4187952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58" name="Shape 56"/>
          <p:cNvSpPr/>
          <p:nvPr/>
        </p:nvSpPr>
        <p:spPr>
          <a:xfrm>
            <a:off x="2012986" y="3776472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12986" y="3794760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058706" y="4050792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61" name="Shape 59"/>
          <p:cNvSpPr/>
          <p:nvPr/>
        </p:nvSpPr>
        <p:spPr>
          <a:xfrm>
            <a:off x="2058706" y="4187952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62" name="Shape 60"/>
          <p:cNvSpPr/>
          <p:nvPr/>
        </p:nvSpPr>
        <p:spPr>
          <a:xfrm>
            <a:off x="2640003" y="3776472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40003" y="3794760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685723" y="4050792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65" name="Shape 63"/>
          <p:cNvSpPr/>
          <p:nvPr/>
        </p:nvSpPr>
        <p:spPr>
          <a:xfrm>
            <a:off x="2685723" y="4187952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66" name="Shape 64"/>
          <p:cNvSpPr/>
          <p:nvPr/>
        </p:nvSpPr>
        <p:spPr>
          <a:xfrm>
            <a:off x="3267021" y="3776472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67021" y="3794760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312741" y="4050792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12741" y="4187952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70" name="Shape 68"/>
          <p:cNvSpPr/>
          <p:nvPr/>
        </p:nvSpPr>
        <p:spPr>
          <a:xfrm>
            <a:off x="3894038" y="3776472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94038" y="3794760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939758" y="4050792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73" name="Shape 71"/>
          <p:cNvSpPr/>
          <p:nvPr/>
        </p:nvSpPr>
        <p:spPr>
          <a:xfrm>
            <a:off x="3939758" y="4187952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74" name="Shape 72"/>
          <p:cNvSpPr/>
          <p:nvPr/>
        </p:nvSpPr>
        <p:spPr>
          <a:xfrm>
            <a:off x="4521055" y="3776472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21055" y="3794760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58952" y="4398264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8952" y="4416552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47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385969" y="4398264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385969" y="4416552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431689" y="4672584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81" name="Shape 79"/>
          <p:cNvSpPr/>
          <p:nvPr/>
        </p:nvSpPr>
        <p:spPr>
          <a:xfrm>
            <a:off x="1431689" y="4809744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C9472E"/>
          </a:solidFill>
          <a:ln/>
        </p:spPr>
      </p:sp>
      <p:sp>
        <p:nvSpPr>
          <p:cNvPr id="82" name="Shape 80"/>
          <p:cNvSpPr/>
          <p:nvPr/>
        </p:nvSpPr>
        <p:spPr>
          <a:xfrm>
            <a:off x="2012986" y="4398264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C9472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012986" y="4416552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058706" y="4672584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85" name="Shape 83"/>
          <p:cNvSpPr/>
          <p:nvPr/>
        </p:nvSpPr>
        <p:spPr>
          <a:xfrm>
            <a:off x="2058706" y="4809744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86" name="Shape 84"/>
          <p:cNvSpPr/>
          <p:nvPr/>
        </p:nvSpPr>
        <p:spPr>
          <a:xfrm>
            <a:off x="2640003" y="4398264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40003" y="4416552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685723" y="4672584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89" name="Shape 87"/>
          <p:cNvSpPr/>
          <p:nvPr/>
        </p:nvSpPr>
        <p:spPr>
          <a:xfrm>
            <a:off x="2685723" y="4809744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90" name="Shape 88"/>
          <p:cNvSpPr/>
          <p:nvPr/>
        </p:nvSpPr>
        <p:spPr>
          <a:xfrm>
            <a:off x="3267021" y="4398264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67021" y="4416552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312741" y="4672584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93" name="Shape 91"/>
          <p:cNvSpPr/>
          <p:nvPr/>
        </p:nvSpPr>
        <p:spPr>
          <a:xfrm>
            <a:off x="3312741" y="4809744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94" name="Shape 92"/>
          <p:cNvSpPr/>
          <p:nvPr/>
        </p:nvSpPr>
        <p:spPr>
          <a:xfrm>
            <a:off x="3894038" y="4398264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894038" y="4416552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939758" y="4672584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97" name="Shape 95"/>
          <p:cNvSpPr/>
          <p:nvPr/>
        </p:nvSpPr>
        <p:spPr>
          <a:xfrm>
            <a:off x="3939758" y="4809744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98" name="Shape 96"/>
          <p:cNvSpPr/>
          <p:nvPr/>
        </p:nvSpPr>
        <p:spPr>
          <a:xfrm>
            <a:off x="4521055" y="4398264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21055" y="4416552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58952" y="5020056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58952" y="5038344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47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1385969" y="5020056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385969" y="5038344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1431689" y="5294376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431689" y="5431536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106" name="Shape 104"/>
          <p:cNvSpPr/>
          <p:nvPr/>
        </p:nvSpPr>
        <p:spPr>
          <a:xfrm>
            <a:off x="2012986" y="5020056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012986" y="5038344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2058706" y="5294376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109" name="Shape 107"/>
          <p:cNvSpPr/>
          <p:nvPr/>
        </p:nvSpPr>
        <p:spPr>
          <a:xfrm>
            <a:off x="2058706" y="5431536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110" name="Shape 108"/>
          <p:cNvSpPr/>
          <p:nvPr/>
        </p:nvSpPr>
        <p:spPr>
          <a:xfrm>
            <a:off x="2640003" y="5020056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640003" y="5038344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2685723" y="5294376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113" name="Shape 111"/>
          <p:cNvSpPr/>
          <p:nvPr/>
        </p:nvSpPr>
        <p:spPr>
          <a:xfrm>
            <a:off x="2685723" y="5431536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114" name="Shape 112"/>
          <p:cNvSpPr/>
          <p:nvPr/>
        </p:nvSpPr>
        <p:spPr>
          <a:xfrm>
            <a:off x="3267021" y="5020056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267021" y="5038344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3312741" y="5294376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117" name="Shape 115"/>
          <p:cNvSpPr/>
          <p:nvPr/>
        </p:nvSpPr>
        <p:spPr>
          <a:xfrm>
            <a:off x="3312741" y="5431536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118" name="Shape 116"/>
          <p:cNvSpPr/>
          <p:nvPr/>
        </p:nvSpPr>
        <p:spPr>
          <a:xfrm>
            <a:off x="3894038" y="5020056"/>
            <a:ext cx="572153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894038" y="5038344"/>
            <a:ext cx="5721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3939758" y="5294376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121" name="Shape 119"/>
          <p:cNvSpPr/>
          <p:nvPr/>
        </p:nvSpPr>
        <p:spPr>
          <a:xfrm>
            <a:off x="3939758" y="5431536"/>
            <a:ext cx="480713" cy="118872"/>
          </a:xfrm>
          <a:prstGeom prst="roundRect">
            <a:avLst>
              <a:gd name="adj" fmla="val 15385"/>
            </a:avLst>
          </a:prstGeom>
          <a:solidFill>
            <a:srgbClr val="B9D4A5"/>
          </a:solidFill>
          <a:ln/>
        </p:spPr>
      </p:sp>
      <p:sp>
        <p:nvSpPr>
          <p:cNvPr id="122" name="Text 120"/>
          <p:cNvSpPr/>
          <p:nvPr/>
        </p:nvSpPr>
        <p:spPr>
          <a:xfrm>
            <a:off x="731520" y="5897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緑＝対象あり ／ 赤＝配車済み（上段：迎え・下段：送り）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5852160" y="1783080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124" name="Image 0" descr="icons/cal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4806" y="1925726"/>
            <a:ext cx="263347" cy="263347"/>
          </a:xfrm>
          <a:prstGeom prst="rect">
            <a:avLst/>
          </a:prstGeom>
        </p:spPr>
      </p:pic>
      <p:sp>
        <p:nvSpPr>
          <p:cNvPr id="125" name="Text 122"/>
          <p:cNvSpPr/>
          <p:nvPr/>
        </p:nvSpPr>
        <p:spPr>
          <a:xfrm>
            <a:off x="6629400" y="17556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1ヶ月先まで計画</a:t>
            </a:r>
            <a:endParaRPr lang="en-US" sz="1500" dirty="0"/>
          </a:p>
        </p:txBody>
      </p:sp>
      <p:sp>
        <p:nvSpPr>
          <p:cNvPr id="126" name="Text 123"/>
          <p:cNvSpPr/>
          <p:nvPr/>
        </p:nvSpPr>
        <p:spPr>
          <a:xfrm>
            <a:off x="6629400" y="21488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利用曜日から自動でカレンダーに展開。お休み・振替・時刻変更はその日だけ上書き。</a:t>
            </a:r>
            <a:endParaRPr lang="en-US" sz="1200" dirty="0"/>
          </a:p>
        </p:txBody>
      </p:sp>
      <p:sp>
        <p:nvSpPr>
          <p:cNvPr id="127" name="Shape 124"/>
          <p:cNvSpPr/>
          <p:nvPr/>
        </p:nvSpPr>
        <p:spPr>
          <a:xfrm>
            <a:off x="5852160" y="3154680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128" name="Image 1" descr="icons/exchang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806" y="3297326"/>
            <a:ext cx="263347" cy="263347"/>
          </a:xfrm>
          <a:prstGeom prst="rect">
            <a:avLst/>
          </a:prstGeom>
        </p:spPr>
      </p:pic>
      <p:sp>
        <p:nvSpPr>
          <p:cNvPr id="129" name="Text 125"/>
          <p:cNvSpPr/>
          <p:nvPr/>
        </p:nvSpPr>
        <p:spPr>
          <a:xfrm>
            <a:off x="6629400" y="31272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迎えと送りを別配車</a:t>
            </a:r>
            <a:endParaRPr lang="en-US" sz="1500" dirty="0"/>
          </a:p>
        </p:txBody>
      </p:sp>
      <p:sp>
        <p:nvSpPr>
          <p:cNvPr id="130" name="Text 126"/>
          <p:cNvSpPr/>
          <p:nvPr/>
        </p:nvSpPr>
        <p:spPr>
          <a:xfrm>
            <a:off x="6629400" y="35204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お迎えは学校ごと、お送りはご自宅ごと。それぞれ独立して配車します。</a:t>
            </a:r>
            <a:endParaRPr lang="en-US" sz="1200" dirty="0"/>
          </a:p>
        </p:txBody>
      </p:sp>
      <p:sp>
        <p:nvSpPr>
          <p:cNvPr id="131" name="Shape 127"/>
          <p:cNvSpPr/>
          <p:nvPr/>
        </p:nvSpPr>
        <p:spPr>
          <a:xfrm>
            <a:off x="5852160" y="4526280"/>
            <a:ext cx="548640" cy="548640"/>
          </a:xfrm>
          <a:prstGeom prst="ellipse">
            <a:avLst/>
          </a:prstGeom>
          <a:solidFill>
            <a:srgbClr val="2F7D52"/>
          </a:solidFill>
          <a:ln/>
        </p:spPr>
      </p:sp>
      <p:pic>
        <p:nvPicPr>
          <p:cNvPr id="132" name="Image 2" descr="icons/chec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806" y="4668926"/>
            <a:ext cx="263347" cy="263347"/>
          </a:xfrm>
          <a:prstGeom prst="rect">
            <a:avLst/>
          </a:prstGeom>
        </p:spPr>
      </p:pic>
      <p:sp>
        <p:nvSpPr>
          <p:cNvPr id="133" name="Text 128"/>
          <p:cNvSpPr/>
          <p:nvPr/>
        </p:nvSpPr>
        <p:spPr>
          <a:xfrm>
            <a:off x="6629400" y="44988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確定と変更検知</a:t>
            </a:r>
            <a:endParaRPr lang="en-US" sz="1500" dirty="0"/>
          </a:p>
        </p:txBody>
      </p:sp>
      <p:sp>
        <p:nvSpPr>
          <p:cNvPr id="134" name="Text 129"/>
          <p:cNvSpPr/>
          <p:nvPr/>
        </p:nvSpPr>
        <p:spPr>
          <a:xfrm>
            <a:off x="6629400" y="4892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確定した分だけを配車。配車後に予定が変わると「⚠組み直してください」と知らせます。</a:t>
            </a:r>
            <a:endParaRPr lang="en-US" sz="1200" dirty="0"/>
          </a:p>
        </p:txBody>
      </p:sp>
      <p:sp>
        <p:nvSpPr>
          <p:cNvPr id="135" name="Text 130"/>
          <p:cNvSpPr/>
          <p:nvPr/>
        </p:nvSpPr>
        <p:spPr>
          <a:xfrm>
            <a:off x="5852160" y="6035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サイン・マスター連携・学校データベースは当日版と同じように使えます。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記録と連絡のアプリ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送迎のまわりにある「書く仕事」も、同じ考え方で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つくる手帖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7F4EA"/>
          </a:solidFill>
          <a:ln w="12700">
            <a:solidFill>
              <a:srgbClr val="D8D2C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7" name="Image 0" descr="icons/clip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1442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0299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支援きろく帖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60120" y="269748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■"/>
            </a:pPr>
            <a:r>
              <a:rPr lang="en-US" sz="13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日々の支援記録を、選んで・書いて・その日のうちに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■"/>
            </a:pPr>
            <a:r>
              <a:rPr lang="en-US" sz="13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令和6年度基準の5領域に沿った記録項目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■"/>
            </a:pPr>
            <a:r>
              <a:rPr lang="en-US" sz="13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個別支援計画づくりの材料（療育プログラム集と連動）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■"/>
            </a:pPr>
            <a:r>
              <a:rPr lang="en-US" sz="13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児童マスター（ニックネームと学校）の正本を管理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64592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8D2C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0" y="1965960"/>
            <a:ext cx="685800" cy="68580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12" name="Image 1" descr="icons/commen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28" y="21442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0299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おうち連絡帖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766560" y="269748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■"/>
            </a:pPr>
            <a:r>
              <a:rPr lang="en-US" sz="13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保護者とのれんらく帳を、スマホでやりとり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■"/>
            </a:pPr>
            <a:r>
              <a:rPr lang="en-US" sz="13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紙の連絡帳の感覚で、書く側も読む側もかんたん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■"/>
            </a:pPr>
            <a:r>
              <a:rPr lang="en-US" sz="13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施設からのお知らせ配布にも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■"/>
            </a:pPr>
            <a:r>
              <a:rPr lang="en-US" sz="130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単体でも使えます（他のアプリが無くてもOK）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アプリどうしの連携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サーバーを介さず、「コピー＆貼り付け」と「ファイル」でつながる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つくる手帖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2C507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671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おむかえルート帖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当日版・月間版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348472" y="196596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2C5077"/>
          </a:solidFill>
          <a:ln/>
        </p:spPr>
      </p:sp>
      <p:sp>
        <p:nvSpPr>
          <p:cNvPr id="9" name="Text 7"/>
          <p:cNvSpPr/>
          <p:nvPr/>
        </p:nvSpPr>
        <p:spPr>
          <a:xfrm>
            <a:off x="8348472" y="21671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支援きろく帖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48472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児童マスターの正本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74236" y="2057400"/>
            <a:ext cx="38404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25400">
            <a:solidFill>
              <a:srgbClr val="C94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74236" y="2203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7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児童マスター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74236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ニックネームと学校のみ・実名なし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13632" y="2514600"/>
            <a:ext cx="187452" cy="0"/>
          </a:xfrm>
          <a:prstGeom prst="line">
            <a:avLst/>
          </a:prstGeom>
          <a:noFill/>
          <a:ln w="28575">
            <a:solidFill>
              <a:srgbClr val="33383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87868" y="2788920"/>
            <a:ext cx="187452" cy="0"/>
          </a:xfrm>
          <a:prstGeom prst="line">
            <a:avLst/>
          </a:prstGeom>
          <a:noFill/>
          <a:ln w="28575">
            <a:solidFill>
              <a:srgbClr val="33383F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3913632" y="2788920"/>
            <a:ext cx="187452" cy="0"/>
          </a:xfrm>
          <a:prstGeom prst="line">
            <a:avLst/>
          </a:prstGeom>
          <a:noFill/>
          <a:ln w="28575">
            <a:solidFill>
              <a:srgbClr val="33383F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8087868" y="2514600"/>
            <a:ext cx="187452" cy="0"/>
          </a:xfrm>
          <a:prstGeom prst="line">
            <a:avLst/>
          </a:prstGeom>
          <a:noFill/>
          <a:ln w="28575">
            <a:solidFill>
              <a:srgbClr val="33383F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286000" y="3520440"/>
            <a:ext cx="7616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「書き出す」でコピー →「読み込む」に貼り付けるだけ。どちらの向きにも渡せます。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F7F4EA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72744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0" descr="icons/pen-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4874849"/>
            <a:ext cx="272125" cy="272125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68680" y="4727448"/>
            <a:ext cx="566928" cy="566928"/>
          </a:xfrm>
          <a:prstGeom prst="ellipse">
            <a:avLst/>
          </a:prstGeom>
          <a:ln w="19050">
            <a:solidFill>
              <a:srgbClr val="2C50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60020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お送りサイン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600200" y="5001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送迎担当の端末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31436" y="4453128"/>
            <a:ext cx="2926080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2C5077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4631436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集約ファイル（JSON）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631436" y="5001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AirDrop・クラウドで受け渡し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348472" y="434340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F7F4EA"/>
          </a:solidFill>
          <a:ln w="12700">
            <a:solidFill>
              <a:srgbClr val="D8D2C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48472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支援きろく帖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348472" y="5001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管理者の端末に取り込み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913632" y="5029200"/>
            <a:ext cx="644652" cy="0"/>
          </a:xfrm>
          <a:prstGeom prst="line">
            <a:avLst/>
          </a:prstGeom>
          <a:noFill/>
          <a:ln w="28575">
            <a:solidFill>
              <a:srgbClr val="33383F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7630668" y="5029200"/>
            <a:ext cx="644652" cy="0"/>
          </a:xfrm>
          <a:prstGeom prst="line">
            <a:avLst/>
          </a:prstGeom>
          <a:noFill/>
          <a:ln w="28575">
            <a:solidFill>
              <a:srgbClr val="33383F"/>
            </a:solidFill>
            <a:prstDash val="solid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640080" y="59893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おうち連絡帖は独立して動きます（保護者⇔施設）。サーバーが無いので、渡した分だけが相手に届きます。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データの考え方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「預けない・送らない・名乗らせない」が基本方針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つくる手帖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7F4EA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47088"/>
            <a:ext cx="566928" cy="566928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7" name="Image 0" descr="icons/db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994489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4650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端末の中だけに保存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1746504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すべてのデータは各iPhoneのブラウザの中に保存され、外部のサーバーには一切送信されません。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807208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962656"/>
            <a:ext cx="566928" cy="566928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12" name="Image 1" descr="icons/users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41" y="3110057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862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実名を使わない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63440" y="286207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児童はニックネームで登録します。万一端末を落としても、個人を特定できる情報は含まれません。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922776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7F4EA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078224"/>
            <a:ext cx="566928" cy="566928"/>
          </a:xfrm>
          <a:prstGeom prst="ellipse">
            <a:avLst/>
          </a:prstGeom>
          <a:solidFill>
            <a:srgbClr val="C9472E"/>
          </a:solidFill>
          <a:ln/>
        </p:spPr>
      </p:sp>
      <p:pic>
        <p:nvPicPr>
          <p:cNvPr id="17" name="Image 2" descr="icons/copy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4225625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977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共有は「渡した分だけ」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6634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アプリ間の連携はコピー＆貼り付けとファイルの受け渡し。何をいつ渡したかが、常に目に見えます。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5038344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5193792"/>
            <a:ext cx="566928" cy="566928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22" name="Image 3" descr="icons/fil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" y="5341193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50932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控え（バックアップ）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663440" y="509320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「書き出してコピー」でメモやLINE Keepに控えを保存。JSONファイルでの保存・機種変更の引き継ぎも。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段階的な始め方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一度に全部はやりません。慣れたら次へ、の4ステップ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77272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つくる手帖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2C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3332" y="2194560"/>
            <a:ext cx="768096" cy="768096"/>
          </a:xfrm>
          <a:prstGeom prst="ellipse">
            <a:avLst/>
          </a:prstGeom>
          <a:solidFill>
            <a:srgbClr val="C9472E"/>
          </a:solidFill>
          <a:ln/>
        </p:spPr>
      </p:sp>
      <p:sp>
        <p:nvSpPr>
          <p:cNvPr id="7" name="Text 5"/>
          <p:cNvSpPr/>
          <p:nvPr/>
        </p:nvSpPr>
        <p:spPr>
          <a:xfrm>
            <a:off x="151333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3035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きょうの配車から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7673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47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おむかえルート帖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133088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学校・車両を登録して、当日のお迎え配車だけを使う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18688" y="35204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578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20440" y="192024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2C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9412" y="2194560"/>
            <a:ext cx="768096" cy="768096"/>
          </a:xfrm>
          <a:prstGeom prst="ellipse">
            <a:avLst/>
          </a:prstGeom>
          <a:solidFill>
            <a:srgbClr val="2C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443941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520440" y="3035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11880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児童とサイン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11880" y="37673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おむかえルート帖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4133088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児童（ニックネーム）を登録。メモのチップとお送りサインを運用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44768" y="35204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578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46520" y="192024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2C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65492" y="2194560"/>
            <a:ext cx="768096" cy="768096"/>
          </a:xfrm>
          <a:prstGeom prst="ellipse">
            <a:avLst/>
          </a:prstGeom>
          <a:solidFill>
            <a:srgbClr val="2C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736549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446520" y="3035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記録とつなぐ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37960" y="37673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支援きろく帖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4133088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マスターを共有して支援記録を開始。サインは集約ファイルで管理者へ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70848" y="35204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578"/>
                </a:solidFill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372600" y="192024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2C0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91572" y="2194560"/>
            <a:ext cx="768096" cy="768096"/>
          </a:xfrm>
          <a:prstGeom prst="ellipse">
            <a:avLst/>
          </a:prstGeom>
          <a:solidFill>
            <a:srgbClr val="2F7D52"/>
          </a:solidFill>
          <a:ln/>
        </p:spPr>
      </p:sp>
      <p:sp>
        <p:nvSpPr>
          <p:cNvPr id="31" name="Text 29"/>
          <p:cNvSpPr/>
          <p:nvPr/>
        </p:nvSpPr>
        <p:spPr>
          <a:xfrm>
            <a:off x="1029157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372600" y="3035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464040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月間計画へ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464040" y="37673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0" y="4133088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1ヶ月カレンダーで迎え・送りを計画。自宅住所は少しずつ登録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94360" y="571500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それぞれのステップだけで完結して役に立ちます。途中でやめても、そこまでの道具はそのまま使えます。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40080" cy="640080"/>
          </a:xfrm>
          <a:prstGeom prst="ellipse">
            <a:avLst/>
          </a:prstGeom>
          <a:solidFill>
            <a:srgbClr val="C947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　きょうの配車から始める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509760" y="384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47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おむかえルート帖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77272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つくる手帖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8" name="Image 0" descr="icons/school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6971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463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学校データを作成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0" y="1463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都道府県と市区町村を選ぶだけで、地域の学校リストが完成（座標も自動取得）。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2176272"/>
            <a:ext cx="0" cy="420624"/>
          </a:xfrm>
          <a:prstGeom prst="line">
            <a:avLst/>
          </a:prstGeom>
          <a:noFill/>
          <a:ln w="15875">
            <a:solidFill>
              <a:srgbClr val="D8D2C0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640080" y="2633472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13" name="Image 1" descr="icons/bus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2776118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5420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車両と事業所を登録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2000" y="254203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車の名前と人数、事業所の住所を入れる。現在地から座標を取ればすぐ終わります。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914400" y="3255264"/>
            <a:ext cx="0" cy="420624"/>
          </a:xfrm>
          <a:prstGeom prst="line">
            <a:avLst/>
          </a:prstGeom>
          <a:noFill/>
          <a:ln w="15875">
            <a:solidFill>
              <a:srgbClr val="D8D2C0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640080" y="3712464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18" name="Image 2" descr="icons/chec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385511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62102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きょうのお迎えを確定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572000" y="362102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行く学校をタップ→下校時刻と人数→確定にチェック。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14400" y="4334256"/>
            <a:ext cx="0" cy="420624"/>
          </a:xfrm>
          <a:prstGeom prst="line">
            <a:avLst/>
          </a:prstGeom>
          <a:noFill/>
          <a:ln w="15875">
            <a:solidFill>
              <a:srgbClr val="D8D2C0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23" name="Image 3" descr="icons/rout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4934102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7000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配車してマップへ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4572000" y="4700016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「配車」を押せばルート完成。Googleマップに引き継いでそのまま運転。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5669280"/>
            <a:ext cx="11091672" cy="685800"/>
          </a:xfrm>
          <a:prstGeom prst="roundRect">
            <a:avLst>
              <a:gd name="adj" fmla="val 9333"/>
            </a:avLst>
          </a:prstGeom>
          <a:solidFill>
            <a:srgbClr val="F7F4EA"/>
          </a:solidFill>
          <a:ln/>
        </p:spPr>
      </p:sp>
      <p:sp>
        <p:nvSpPr>
          <p:cNvPr id="27" name="Text 21"/>
          <p:cNvSpPr/>
          <p:nvPr/>
        </p:nvSpPr>
        <p:spPr>
          <a:xfrm>
            <a:off x="822960" y="56692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⏱ 初期設定は30分ほど。この日から紙のメモとホワイトボードを減らせます。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40080" cy="640080"/>
          </a:xfrm>
          <a:prstGeom prst="ellipse">
            <a:avLst/>
          </a:prstGeom>
          <a:solidFill>
            <a:srgbClr val="2C50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　児童の登録とお送りサイン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509760" y="384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おむかえルート帖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77272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つくる手帖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8" name="Image 0" descr="icons/user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6971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463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児童をニックネームで登録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0" y="1463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名前と学校・利用曜日だけ。実名は入れません。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2176272"/>
            <a:ext cx="0" cy="420624"/>
          </a:xfrm>
          <a:prstGeom prst="line">
            <a:avLst/>
          </a:prstGeom>
          <a:noFill/>
          <a:ln w="15875">
            <a:solidFill>
              <a:srgbClr val="D8D2C0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640080" y="2633472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13" name="Image 1" descr="icons/clip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2776118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5420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学校のメモがチップに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2000" y="254203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学校を選ぶと、その日の利用児童の名前がチップで並び、タップでメモに入ります。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914400" y="3255264"/>
            <a:ext cx="0" cy="420624"/>
          </a:xfrm>
          <a:prstGeom prst="line">
            <a:avLst/>
          </a:prstGeom>
          <a:noFill/>
          <a:ln w="15875">
            <a:solidFill>
              <a:srgbClr val="D8D2C0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640080" y="3712464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18" name="Image 2" descr="icons/pen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385511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62102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お送りサインの運用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572000" y="362102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お送り時に保護者に画面でサイン。書き直しもかんたん。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14400" y="4334256"/>
            <a:ext cx="0" cy="420624"/>
          </a:xfrm>
          <a:prstGeom prst="line">
            <a:avLst/>
          </a:prstGeom>
          <a:noFill/>
          <a:ln w="15875">
            <a:solidFill>
              <a:srgbClr val="D8D2C0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23" name="Image 3" descr="icons/fil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4934102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7000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集約して管理者へ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4572000" y="4700016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一日の終わりに集約ファイルを書き出し、AirDrop等で管理者へ。古いサインは自動削除。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5669280"/>
            <a:ext cx="11091672" cy="685800"/>
          </a:xfrm>
          <a:prstGeom prst="roundRect">
            <a:avLst>
              <a:gd name="adj" fmla="val 9333"/>
            </a:avLst>
          </a:prstGeom>
          <a:solidFill>
            <a:srgbClr val="F7F4EA"/>
          </a:solidFill>
          <a:ln/>
        </p:spPr>
      </p:sp>
      <p:sp>
        <p:nvSpPr>
          <p:cNvPr id="27" name="Text 21"/>
          <p:cNvSpPr/>
          <p:nvPr/>
        </p:nvSpPr>
        <p:spPr>
          <a:xfrm>
            <a:off x="822960" y="56692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児童を入れると「児童あり」絞込みが使えるようになり、選び漏れが減ります。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40080" cy="640080"/>
          </a:xfrm>
          <a:prstGeom prst="ellipse">
            <a:avLst/>
          </a:prstGeom>
          <a:solidFill>
            <a:srgbClr val="2C50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　支援きろく帖とつなぐ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509760" y="384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支援きろく帖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77272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つくる手帖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8" name="Image 0" descr="icons/exchang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6971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463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マスターを共有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0" y="1463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どちらかで作った児童マスターを「書き出す→貼り付け」で共有。二重入力はしません。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2176272"/>
            <a:ext cx="0" cy="420624"/>
          </a:xfrm>
          <a:prstGeom prst="line">
            <a:avLst/>
          </a:prstGeom>
          <a:noFill/>
          <a:ln w="15875">
            <a:solidFill>
              <a:srgbClr val="D8D2C0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640080" y="2633472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13" name="Image 1" descr="icons/clip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2776118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5420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日々の支援記録を開始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2000" y="254203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5領域に沿った記録を、その日のうちに。個別支援計画の材料になります。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914400" y="3255264"/>
            <a:ext cx="0" cy="420624"/>
          </a:xfrm>
          <a:prstGeom prst="line">
            <a:avLst/>
          </a:prstGeom>
          <a:noFill/>
          <a:ln w="15875">
            <a:solidFill>
              <a:srgbClr val="D8D2C0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640080" y="3712464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18" name="Image 2" descr="icons/pen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385511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62102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サインが記録に合流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572000" y="362102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おむかえルート帖の集約ファイルを取り込むと、サインが当日の記録に紐づきます。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14400" y="4334256"/>
            <a:ext cx="0" cy="420624"/>
          </a:xfrm>
          <a:prstGeom prst="line">
            <a:avLst/>
          </a:prstGeom>
          <a:noFill/>
          <a:ln w="15875">
            <a:solidFill>
              <a:srgbClr val="D8D2C0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23" name="Image 3" descr="icons/heart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4934102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7000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療育プログラム集と連動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4572000" y="4700016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つくる手帖の「個別支援計画のたね」から、プログラムと観察チェックリストを利用できます。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5669280"/>
            <a:ext cx="11091672" cy="685800"/>
          </a:xfrm>
          <a:prstGeom prst="roundRect">
            <a:avLst>
              <a:gd name="adj" fmla="val 9333"/>
            </a:avLst>
          </a:prstGeom>
          <a:solidFill>
            <a:srgbClr val="F7F4EA"/>
          </a:solidFill>
          <a:ln/>
        </p:spPr>
      </p:sp>
      <p:sp>
        <p:nvSpPr>
          <p:cNvPr id="27" name="Text 21"/>
          <p:cNvSpPr/>
          <p:nvPr/>
        </p:nvSpPr>
        <p:spPr>
          <a:xfrm>
            <a:off x="822960" y="56692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📌 児童マスターの正本は支援きろく帖側。変更はきろく帖で行い、おむかえ側へ貼り付けて反映します。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640080" cy="640080"/>
          </a:xfrm>
          <a:prstGeom prst="ellipse">
            <a:avLst/>
          </a:prstGeom>
          <a:solidFill>
            <a:srgbClr val="2F7D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　月間版で1ヶ月先まで計画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509760" y="384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7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おむかえルート帖・月間版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77272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つくる手帖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8" name="Image 0" descr="icons/copy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6971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463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データはそのまま引越し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0" y="1463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当日版のマスターを月間版に貼り付けるだけ。学校・児童を作り直す必要はありません。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2176272"/>
            <a:ext cx="0" cy="420624"/>
          </a:xfrm>
          <a:prstGeom prst="line">
            <a:avLst/>
          </a:prstGeom>
          <a:noFill/>
          <a:ln w="15875">
            <a:solidFill>
              <a:srgbClr val="D8D2C0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640080" y="2633472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13" name="Image 1" descr="icons/cal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2776118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5420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カレンダーに自動展開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2000" y="254203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利用曜日から1ヶ月分の迎え・送りが並ぶ。お休みや振替はその日だけ上書き。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914400" y="3255264"/>
            <a:ext cx="0" cy="420624"/>
          </a:xfrm>
          <a:prstGeom prst="line">
            <a:avLst/>
          </a:prstGeom>
          <a:noFill/>
          <a:ln w="15875">
            <a:solidFill>
              <a:srgbClr val="D8D2C0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640080" y="3712464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18" name="Image 2" descr="icons/hom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385511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62102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自宅住所は少しずつ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572000" y="362102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お送り配車に使う自宅の住所・座標は、よく乗る児童から順に登録すれば十分です。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14400" y="4334256"/>
            <a:ext cx="0" cy="420624"/>
          </a:xfrm>
          <a:prstGeom prst="line">
            <a:avLst/>
          </a:prstGeom>
          <a:noFill/>
          <a:ln w="15875">
            <a:solidFill>
              <a:srgbClr val="D8D2C0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2C5077"/>
          </a:solidFill>
          <a:ln/>
        </p:spPr>
      </p:sp>
      <p:pic>
        <p:nvPicPr>
          <p:cNvPr id="23" name="Image 3" descr="icons/flag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4934102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7000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0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確定→配車→変更に追従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4572000" y="4700016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確定した分だけを配車。予定が変われば⚠が出るので、組み直しの漏れがありません。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5669280"/>
            <a:ext cx="11091672" cy="685800"/>
          </a:xfrm>
          <a:prstGeom prst="roundRect">
            <a:avLst>
              <a:gd name="adj" fmla="val 9333"/>
            </a:avLst>
          </a:prstGeom>
          <a:solidFill>
            <a:srgbClr val="F7F4EA"/>
          </a:solidFill>
          <a:ln/>
        </p:spPr>
      </p:sp>
      <p:sp>
        <p:nvSpPr>
          <p:cNvPr id="27" name="Text 21"/>
          <p:cNvSpPr/>
          <p:nvPr/>
        </p:nvSpPr>
        <p:spPr>
          <a:xfrm>
            <a:off x="822960" y="56692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🚐 当日版は「きょうの現場用」、月間版は「計画づくり用」として併用もできます。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572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3716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2860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1148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0292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9436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2A4A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137160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DF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 STEP 1 から</a:t>
            </a:r>
            <a:endParaRPr lang="en-US" sz="4000" dirty="0"/>
          </a:p>
        </p:txBody>
      </p:sp>
      <p:sp>
        <p:nvSpPr>
          <p:cNvPr id="44" name="Text 42"/>
          <p:cNvSpPr/>
          <p:nvPr/>
        </p:nvSpPr>
        <p:spPr>
          <a:xfrm>
            <a:off x="914400" y="23774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学校データを作って、あすのお迎えを1回、配車してみてください。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88136" y="3383280"/>
            <a:ext cx="2194560" cy="1463040"/>
          </a:xfrm>
          <a:prstGeom prst="roundRect">
            <a:avLst>
              <a:gd name="adj" fmla="val 5625"/>
            </a:avLst>
          </a:prstGeom>
          <a:solidFill>
            <a:srgbClr val="2C5077"/>
          </a:solidFill>
          <a:ln/>
        </p:spPr>
      </p:sp>
      <p:pic>
        <p:nvPicPr>
          <p:cNvPr id="46" name="Image 0" descr="icons/yen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3611880"/>
            <a:ext cx="438912" cy="438912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088136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費用ゼロ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3694176" y="3383280"/>
            <a:ext cx="2194560" cy="1463040"/>
          </a:xfrm>
          <a:prstGeom prst="roundRect">
            <a:avLst>
              <a:gd name="adj" fmla="val 5625"/>
            </a:avLst>
          </a:prstGeom>
          <a:solidFill>
            <a:srgbClr val="2C5077"/>
          </a:solidFill>
          <a:ln/>
        </p:spPr>
      </p:sp>
      <p:pic>
        <p:nvPicPr>
          <p:cNvPr id="49" name="Image 1" descr="icons/shield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11880"/>
            <a:ext cx="438912" cy="438912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3694176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端末の中だけ</a:t>
            </a:r>
            <a:endParaRPr lang="en-US" sz="1400" dirty="0"/>
          </a:p>
        </p:txBody>
      </p:sp>
      <p:sp>
        <p:nvSpPr>
          <p:cNvPr id="51" name="Shape 47"/>
          <p:cNvSpPr/>
          <p:nvPr/>
        </p:nvSpPr>
        <p:spPr>
          <a:xfrm>
            <a:off x="6300216" y="3383280"/>
            <a:ext cx="2194560" cy="1463040"/>
          </a:xfrm>
          <a:prstGeom prst="roundRect">
            <a:avLst>
              <a:gd name="adj" fmla="val 5625"/>
            </a:avLst>
          </a:prstGeom>
          <a:solidFill>
            <a:srgbClr val="2C5077"/>
          </a:solidFill>
          <a:ln/>
        </p:spPr>
      </p:sp>
      <p:pic>
        <p:nvPicPr>
          <p:cNvPr id="52" name="Image 2" descr="icons/mobil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611880"/>
            <a:ext cx="438912" cy="438912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6300216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iPhoneで完結</a:t>
            </a:r>
            <a:endParaRPr lang="en-US" sz="1400" dirty="0"/>
          </a:p>
        </p:txBody>
      </p:sp>
      <p:sp>
        <p:nvSpPr>
          <p:cNvPr id="54" name="Shape 49"/>
          <p:cNvSpPr/>
          <p:nvPr/>
        </p:nvSpPr>
        <p:spPr>
          <a:xfrm>
            <a:off x="8906256" y="3383280"/>
            <a:ext cx="2194560" cy="1463040"/>
          </a:xfrm>
          <a:prstGeom prst="roundRect">
            <a:avLst>
              <a:gd name="adj" fmla="val 5625"/>
            </a:avLst>
          </a:prstGeom>
          <a:solidFill>
            <a:srgbClr val="2C5077"/>
          </a:solidFill>
          <a:ln/>
        </p:spPr>
      </p:sp>
      <p:pic>
        <p:nvPicPr>
          <p:cNvPr id="55" name="Image 3" descr="icons/qr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3611880"/>
            <a:ext cx="438912" cy="438912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8906256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QRですぐ導入</a:t>
            </a:r>
            <a:endParaRPr lang="en-US" sz="1400" dirty="0"/>
          </a:p>
        </p:txBody>
      </p:sp>
      <p:sp>
        <p:nvSpPr>
          <p:cNvPr id="57" name="Text 51"/>
          <p:cNvSpPr/>
          <p:nvPr/>
        </p:nvSpPr>
        <p:spPr>
          <a:xfrm>
            <a:off x="914400" y="530352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各アプリの使い方マニュアル・QRカード・インストール手順書をご用意しています。</a:t>
            </a:r>
            <a:endParaRPr lang="en-US" sz="1400" dirty="0"/>
          </a:p>
        </p:txBody>
      </p:sp>
      <p:sp>
        <p:nvSpPr>
          <p:cNvPr id="58" name="Text 52"/>
          <p:cNvSpPr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4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つくる手帖 ｜ 放課後デイ応援帖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2026-07-20T19:30:39Z</dcterms:created>
  <dcterms:modified xsi:type="dcterms:W3CDTF">2026-07-20T19:30:39Z</dcterms:modified>
</cp:coreProperties>
</file>